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256" r:id="rId3"/>
    <p:sldId id="257" r:id="rId4"/>
    <p:sldId id="258" r:id="rId5"/>
    <p:sldId id="260" r:id="rId6"/>
    <p:sldId id="279" r:id="rId7"/>
    <p:sldId id="280" r:id="rId8"/>
    <p:sldId id="261" r:id="rId9"/>
    <p:sldId id="288" r:id="rId10"/>
    <p:sldId id="289" r:id="rId11"/>
    <p:sldId id="290" r:id="rId12"/>
    <p:sldId id="297" r:id="rId13"/>
    <p:sldId id="299" r:id="rId14"/>
    <p:sldId id="300" r:id="rId15"/>
    <p:sldId id="302" r:id="rId16"/>
    <p:sldId id="31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7" autoAdjust="0"/>
    <p:restoredTop sz="96233" autoAdjust="0"/>
  </p:normalViewPr>
  <p:slideViewPr>
    <p:cSldViewPr snapToGrid="0">
      <p:cViewPr varScale="1">
        <p:scale>
          <a:sx n="74" d="100"/>
          <a:sy n="74" d="100"/>
        </p:scale>
        <p:origin x="8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FE704CE-28C0-187B-2E59-A1834FCDC0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时光寻物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2CCCE4-E410-0461-3710-FF67DE588B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00E154-B8DE-40C1-8506-BCF839E822C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125D68-3CB5-D5F0-FDB8-92286FB3824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ADD360-0B4F-23AE-CBBC-1CC29BB3E7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2D184-A309-4D41-B301-3920D633CE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363089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时光寻物</a:t>
            </a:r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时光寻物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时光寻物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时光寻物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时光寻物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时光寻物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时光寻物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时光寻物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时光寻物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时光寻物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时光寻物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时光寻物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9F6F-D902-5590-C457-A016B376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94A295-6949-94F9-04C6-68688B7581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时光寻物</a:t>
            </a:r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C38F1-D9A6-A8D1-C617-39A99886A7C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7707BD6-21A1-F187-9E4A-2EC7C6C754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1F93992-679C-3D38-63F4-8A457CFBE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4E5A2-5B1F-BE1E-C720-8ADFADD606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8C06E-1ED7-F98D-B8E7-276ED9885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85386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8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image" Target="../media/image7.svg"/><Relationship Id="rId11" Type="http://schemas.microsoft.com/office/2007/relationships/hdphoto" Target="../media/hdphoto1.wdp"/><Relationship Id="rId5" Type="http://schemas.openxmlformats.org/officeDocument/2006/relationships/image" Target="../media/image6.jpeg"/><Relationship Id="rId10" Type="http://schemas.openxmlformats.org/officeDocument/2006/relationships/image" Target="../media/image4.png"/><Relationship Id="rId4" Type="http://schemas.openxmlformats.org/officeDocument/2006/relationships/image" Target="../media/image5.jpe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2.svg"/><Relationship Id="rId12" Type="http://schemas.microsoft.com/office/2007/relationships/hdphoto" Target="../media/hdphoto1.wdp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6" Type="http://schemas.openxmlformats.org/officeDocument/2006/relationships/image" Target="../media/image11.svg"/><Relationship Id="rId11" Type="http://schemas.openxmlformats.org/officeDocument/2006/relationships/image" Target="../media/image4.png"/><Relationship Id="rId5" Type="http://schemas.openxmlformats.org/officeDocument/2006/relationships/image" Target="../media/image10.svg"/><Relationship Id="rId10" Type="http://schemas.openxmlformats.org/officeDocument/2006/relationships/image" Target="../media/image3.png"/><Relationship Id="rId4" Type="http://schemas.openxmlformats.org/officeDocument/2006/relationships/image" Target="../media/image5.jpeg"/><Relationship Id="rId9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7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6" Type="http://schemas.openxmlformats.org/officeDocument/2006/relationships/image" Target="../media/image16.svg"/><Relationship Id="rId11" Type="http://schemas.microsoft.com/office/2007/relationships/hdphoto" Target="../media/hdphoto1.wdp"/><Relationship Id="rId5" Type="http://schemas.openxmlformats.org/officeDocument/2006/relationships/image" Target="../media/image15.svg"/><Relationship Id="rId10" Type="http://schemas.openxmlformats.org/officeDocument/2006/relationships/image" Target="../media/image4.png"/><Relationship Id="rId4" Type="http://schemas.openxmlformats.org/officeDocument/2006/relationships/image" Target="../media/image5.jpe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microsoft.com/office/2007/relationships/hdphoto" Target="../media/hdphoto1.wdp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2.svg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6" Type="http://schemas.openxmlformats.org/officeDocument/2006/relationships/image" Target="../media/image21.svg"/><Relationship Id="rId11" Type="http://schemas.openxmlformats.org/officeDocument/2006/relationships/image" Target="../media/image3.png"/><Relationship Id="rId5" Type="http://schemas.openxmlformats.org/officeDocument/2006/relationships/image" Target="../media/image20.svg"/><Relationship Id="rId10" Type="http://schemas.openxmlformats.org/officeDocument/2006/relationships/image" Target="../media/image25.svg"/><Relationship Id="rId4" Type="http://schemas.openxmlformats.org/officeDocument/2006/relationships/image" Target="../media/image19.jpeg"/><Relationship Id="rId9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Relationship Id="rId9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4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1.svg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6" Type="http://schemas.openxmlformats.org/officeDocument/2006/relationships/image" Target="../media/image30.svg"/><Relationship Id="rId11" Type="http://schemas.openxmlformats.org/officeDocument/2006/relationships/image" Target="../media/image34.svg"/><Relationship Id="rId5" Type="http://schemas.openxmlformats.org/officeDocument/2006/relationships/image" Target="../media/image29.jpeg"/><Relationship Id="rId10" Type="http://schemas.openxmlformats.org/officeDocument/2006/relationships/image" Target="../media/image33.svg"/><Relationship Id="rId4" Type="http://schemas.openxmlformats.org/officeDocument/2006/relationships/image" Target="../media/image5.jpeg"/><Relationship Id="rId9" Type="http://schemas.openxmlformats.org/officeDocument/2006/relationships/image" Target="../media/image32.svg"/><Relationship Id="rId1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8.svg"/><Relationship Id="rId12" Type="http://schemas.microsoft.com/office/2007/relationships/hdphoto" Target="../media/hdphoto1.wdp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6" Type="http://schemas.openxmlformats.org/officeDocument/2006/relationships/image" Target="../media/image37.svg"/><Relationship Id="rId11" Type="http://schemas.openxmlformats.org/officeDocument/2006/relationships/image" Target="../media/image4.png"/><Relationship Id="rId5" Type="http://schemas.openxmlformats.org/officeDocument/2006/relationships/image" Target="../media/image36.svg"/><Relationship Id="rId10" Type="http://schemas.openxmlformats.org/officeDocument/2006/relationships/image" Target="../media/image3.png"/><Relationship Id="rId4" Type="http://schemas.openxmlformats.org/officeDocument/2006/relationships/image" Target="../media/image35.svg"/><Relationship Id="rId9" Type="http://schemas.openxmlformats.org/officeDocument/2006/relationships/image" Target="../media/image40.sv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6" Type="http://schemas.openxmlformats.org/officeDocument/2006/relationships/image" Target="../media/image43.svg"/><Relationship Id="rId5" Type="http://schemas.openxmlformats.org/officeDocument/2006/relationships/image" Target="../media/image42.svg"/><Relationship Id="rId4" Type="http://schemas.openxmlformats.org/officeDocument/2006/relationships/image" Target="../media/image41.sv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47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6" Type="http://schemas.openxmlformats.org/officeDocument/2006/relationships/image" Target="../media/image46.svg"/><Relationship Id="rId11" Type="http://schemas.microsoft.com/office/2007/relationships/hdphoto" Target="../media/hdphoto1.wdp"/><Relationship Id="rId5" Type="http://schemas.openxmlformats.org/officeDocument/2006/relationships/image" Target="../media/image45.svg"/><Relationship Id="rId10" Type="http://schemas.openxmlformats.org/officeDocument/2006/relationships/image" Target="../media/image4.png"/><Relationship Id="rId4" Type="http://schemas.openxmlformats.org/officeDocument/2006/relationships/image" Target="../media/image44.jpeg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8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6" Type="http://schemas.openxmlformats.org/officeDocument/2006/relationships/image" Target="../media/image51.svg"/><Relationship Id="rId5" Type="http://schemas.openxmlformats.org/officeDocument/2006/relationships/image" Target="../media/image50.svg"/><Relationship Id="rId10" Type="http://schemas.openxmlformats.org/officeDocument/2006/relationships/image" Target="../media/image3.png"/><Relationship Id="rId4" Type="http://schemas.openxmlformats.org/officeDocument/2006/relationships/image" Target="../media/image49.svg"/><Relationship Id="rId9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6" Type="http://schemas.openxmlformats.org/officeDocument/2006/relationships/image" Target="../media/image3.png"/><Relationship Id="rId5" Type="http://schemas.openxmlformats.org/officeDocument/2006/relationships/image" Target="../media/image53.svg"/><Relationship Id="rId4" Type="http://schemas.openxmlformats.org/officeDocument/2006/relationships/image" Target="../media/image5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56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6" Type="http://schemas.openxmlformats.org/officeDocument/2006/relationships/image" Target="../media/image55.svg"/><Relationship Id="rId5" Type="http://schemas.openxmlformats.org/officeDocument/2006/relationships/image" Target="../media/image54.svg"/><Relationship Id="rId10" Type="http://schemas.microsoft.com/office/2007/relationships/hdphoto" Target="../media/hdphoto1.wdp"/><Relationship Id="rId4" Type="http://schemas.openxmlformats.org/officeDocument/2006/relationships/image" Target="../media/image49.svg"/><Relationship Id="rId9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8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Relationship Id="rId6" Type="http://schemas.openxmlformats.org/officeDocument/2006/relationships/image" Target="../media/image59.svg"/><Relationship Id="rId5" Type="http://schemas.openxmlformats.org/officeDocument/2006/relationships/image" Target="../media/image58.svg"/><Relationship Id="rId10" Type="http://schemas.microsoft.com/office/2007/relationships/hdphoto" Target="../media/hdphoto1.wdp"/><Relationship Id="rId4" Type="http://schemas.openxmlformats.org/officeDocument/2006/relationships/image" Target="../media/image57.sv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60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rcRect l="3491" t="3448" r="3394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F172A">
                  <a:alpha val="10000"/>
                </a:srgbClr>
              </a:gs>
              <a:gs pos="100000">
                <a:srgbClr val="0F172A">
                  <a:alpha val="75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0" y="1047750"/>
            <a:ext cx="965200" cy="965200"/>
          </a:xfrm>
          <a:prstGeom prst="rect">
            <a:avLst/>
          </a:prstGeom>
          <a:effectLst>
            <a:outerShdw blurRad="254000" dir="2700000" algn="tl" rotWithShape="0">
              <a:srgbClr val="14B8A6">
                <a:alpha val="5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1016000" y="21971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96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拾光循迹</a:t>
            </a:r>
          </a:p>
        </p:txBody>
      </p:sp>
      <p:sp>
        <p:nvSpPr>
          <p:cNvPr id="6" name="AutoShape 6"/>
          <p:cNvSpPr/>
          <p:nvPr/>
        </p:nvSpPr>
        <p:spPr>
          <a:xfrm>
            <a:off x="5588000" y="3365500"/>
            <a:ext cx="1016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r="2700000" algn="tl" rotWithShape="0">
              <a:srgbClr val="14B8A6">
                <a:alpha val="8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683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zh-CN" altLang="en-US" sz="28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智联校园，让每一次遗失都能温暖重逢</a:t>
            </a:r>
          </a:p>
        </p:txBody>
      </p:sp>
      <p:sp>
        <p:nvSpPr>
          <p:cNvPr id="8" name="AutoShape 8"/>
          <p:cNvSpPr/>
          <p:nvPr/>
        </p:nvSpPr>
        <p:spPr>
          <a:xfrm>
            <a:off x="1270000" y="4749800"/>
            <a:ext cx="965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9" name="AutoShape 9"/>
          <p:cNvSpPr/>
          <p:nvPr/>
        </p:nvSpPr>
        <p:spPr>
          <a:xfrm>
            <a:off x="1397000" y="4902200"/>
            <a:ext cx="939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zh-CN" altLang="en-US" sz="1600" dirty="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参赛项目：校园失物招领微信小程序 </a:t>
            </a:r>
            <a:r>
              <a:rPr lang="en-US" altLang="zh-CN" sz="1600" dirty="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zh-CN" altLang="en-US" sz="1600" dirty="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参赛团队</a:t>
            </a:r>
            <a:r>
              <a:rPr lang="en-US" altLang="zh-CN" sz="1600" dirty="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600" dirty="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队长说什么都对队</a:t>
            </a:r>
            <a:r>
              <a:rPr lang="en-US" altLang="zh-CN" sz="1600" dirty="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|</a:t>
            </a:r>
            <a:r>
              <a:rPr lang="zh-CN" altLang="en-US" sz="1600" dirty="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汇报人：韩子强</a:t>
            </a:r>
            <a:r>
              <a:rPr lang="en-US" altLang="zh-CN" sz="1600" dirty="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日期：2026年4月 </a:t>
            </a:r>
            <a:endParaRPr lang="en-US" altLang="zh-CN" sz="1600" dirty="0"/>
          </a:p>
        </p:txBody>
      </p:sp>
      <p:sp>
        <p:nvSpPr>
          <p:cNvPr id="10" name="AutoShape 10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图片 10" descr="ae5d5564380e8049ca186a9801eb1f0">
            <a:extLst>
              <a:ext uri="{FF2B5EF4-FFF2-40B4-BE49-F238E27FC236}">
                <a16:creationId xmlns:a16="http://schemas.microsoft.com/office/drawing/2014/main" id="{C4E19F1A-F007-EBEF-EE06-AE1AD63E0E9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 l="3658" t="22262" b="24253"/>
          <a:stretch>
            <a:fillRect/>
          </a:stretch>
        </p:blipFill>
        <p:spPr>
          <a:xfrm>
            <a:off x="9219565" y="0"/>
            <a:ext cx="2972435" cy="75057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39A1D60-1157-2095-5603-E7CFA3CE46ED}"/>
              </a:ext>
            </a:extLst>
          </p:cNvPr>
          <p:cNvSpPr txBox="1"/>
          <p:nvPr/>
        </p:nvSpPr>
        <p:spPr>
          <a:xfrm>
            <a:off x="770708" y="241469"/>
            <a:ext cx="3554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拾光循迹</a:t>
            </a:r>
            <a:r>
              <a:rPr lang="en-US" altLang="zh-CN" sz="1600" dirty="0">
                <a:solidFill>
                  <a:schemeClr val="tx1"/>
                </a:solidFill>
              </a:rPr>
              <a:t>·</a:t>
            </a:r>
            <a:r>
              <a:rPr lang="zh-CN" altLang="en-US" sz="1600" dirty="0">
                <a:solidFill>
                  <a:schemeClr val="tx1"/>
                </a:solidFill>
              </a:rPr>
              <a:t>队长说什么都对队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C0B3A4B-7F7A-DA48-2EB4-801206ACC9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1474"/>
            <a:ext cx="878702" cy="8787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rcRect l="2000" t="2127" r="2000" b="21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3648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l="702" r="936"/>
          <a:stretch>
            <a:fillRect/>
          </a:stretch>
        </p:blipFill>
        <p:spPr>
          <a:xfrm>
            <a:off x="609600" y="1270000"/>
            <a:ext cx="5334000" cy="3048000"/>
          </a:xfrm>
          <a:prstGeom prst="rect">
            <a:avLst/>
          </a:prstGeom>
          <a:noFill/>
          <a:ln w="25400" cap="flat" cmpd="sng">
            <a:solidFill>
              <a:srgbClr val="14B8A6">
                <a:alpha val="4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14B8A6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09600" y="4572000"/>
            <a:ext cx="5334000" cy="1143000"/>
          </a:xfrm>
          <a:prstGeom prst="roundRect">
            <a:avLst>
              <a:gd name="adj" fmla="val 13333"/>
            </a:avLst>
          </a:prstGeom>
          <a:solidFill>
            <a:srgbClr val="14B8A6">
              <a:alpha val="1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63600" y="4762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“痛点直击”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物品遗失不仅是财产损失，更是时间与情绪的双重消耗</a:t>
            </a:r>
          </a:p>
        </p:txBody>
      </p:sp>
      <p:sp>
        <p:nvSpPr>
          <p:cNvPr id="7" name="AutoShape 7"/>
          <p:cNvSpPr/>
          <p:nvPr/>
        </p:nvSpPr>
        <p:spPr>
          <a:xfrm>
            <a:off x="6604000" y="952500"/>
            <a:ext cx="508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遗失：被低估的校园高频烦恼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0" y="1841500"/>
            <a:ext cx="5080000" cy="1206500"/>
          </a:xfrm>
          <a:prstGeom prst="roundRect">
            <a:avLst>
              <a:gd name="adj" fmla="val 842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0" y="2095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620000" y="19685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遗失物品的多样性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校园卡、笔记本、耳机及证件等，涵盖生活、学习与身份认证场景，遗失影响巨大。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604000" y="3238500"/>
            <a:ext cx="5080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0" y="3556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620000" y="33655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三大高频遗失场景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食堂：转身遗忘书包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餐具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图书馆：专注阅读落下电子设备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运动场：运动后遗忘衣物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钥匙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604000" y="4826000"/>
            <a:ext cx="5080000" cy="1079500"/>
          </a:xfrm>
          <a:prstGeom prst="roundRect">
            <a:avLst>
              <a:gd name="adj" fmla="val 9411"/>
            </a:avLst>
          </a:prstGeom>
          <a:solidFill>
            <a:srgbClr val="14B8A6">
              <a:alpha val="1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0" y="50546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620000" y="49530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数据背后的真相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超70%学生有遗失经历，其中</a:t>
            </a:r>
            <a:r>
              <a:rPr lang="en-US" sz="1300" b="1" i="0" u="none" strike="noStrike" dirty="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半数以上</a:t>
            </a:r>
            <a:r>
              <a:rPr lang="en-US" sz="13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物品因无有效渠道无法找回。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图片 17" descr="ae5d5564380e8049ca186a9801eb1f0">
            <a:extLst>
              <a:ext uri="{FF2B5EF4-FFF2-40B4-BE49-F238E27FC236}">
                <a16:creationId xmlns:a16="http://schemas.microsoft.com/office/drawing/2014/main" id="{3BB4B667-07D5-E21E-BDFD-E063B741380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 l="3658" t="22262" b="24253"/>
          <a:stretch>
            <a:fillRect/>
          </a:stretch>
        </p:blipFill>
        <p:spPr>
          <a:xfrm>
            <a:off x="9219565" y="0"/>
            <a:ext cx="2972435" cy="75057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5EA68E3-6088-7E4F-C29F-1107AD43F7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1474"/>
            <a:ext cx="878702" cy="87870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18AA7995-D952-C053-C11D-E61AFD977517}"/>
              </a:ext>
            </a:extLst>
          </p:cNvPr>
          <p:cNvSpPr txBox="1"/>
          <p:nvPr/>
        </p:nvSpPr>
        <p:spPr>
          <a:xfrm>
            <a:off x="770708" y="241469"/>
            <a:ext cx="3554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拾光循迹</a:t>
            </a:r>
            <a:r>
              <a:rPr lang="en-US" altLang="zh-CN" sz="1600" dirty="0">
                <a:solidFill>
                  <a:schemeClr val="tx1"/>
                </a:solidFill>
              </a:rPr>
              <a:t>·</a:t>
            </a:r>
            <a:r>
              <a:rPr lang="zh-CN" altLang="en-US" sz="1600" dirty="0">
                <a:solidFill>
                  <a:schemeClr val="tx1"/>
                </a:solidFill>
              </a:rPr>
              <a:t>队长说什么都对队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传统模式的“大困境”：信息孤岛与效率瓶颈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cap="flat" cmpd="sng">
            <a:solidFill>
              <a:srgbClr val="019F8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5588000" cy="952500"/>
          </a:xfrm>
          <a:prstGeom prst="roundRect">
            <a:avLst>
              <a:gd name="adj" fmla="val 13333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14B8A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68500"/>
            <a:ext cx="558800" cy="558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18796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信息分散，形成“孤岛”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微信群、朋友圈、公告墙多方割裂，信息难以有效匹配，如同黑暗中摸索。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2857500"/>
            <a:ext cx="5588000" cy="952500"/>
          </a:xfrm>
          <a:prstGeom prst="roundRect">
            <a:avLst>
              <a:gd name="adj" fmla="val 13333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14B8A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048000"/>
            <a:ext cx="558800" cy="558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29591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发布随意，检索如“大海捞针”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信息格式不规范，缺乏统一分类，关键信息缺失，用户只能靠刷屏碰运气。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3937000"/>
            <a:ext cx="5588000" cy="952500"/>
          </a:xfrm>
          <a:prstGeom prst="roundRect">
            <a:avLst>
              <a:gd name="adj" fmla="val 13333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14B8A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127500"/>
            <a:ext cx="558800" cy="558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40386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内容陈旧，缺乏“状态更新”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过时信息长期置顶，用户需花费大量时间甄别信息有效性，效率极低。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016500"/>
            <a:ext cx="5588000" cy="952500"/>
          </a:xfrm>
          <a:prstGeom prst="roundRect">
            <a:avLst>
              <a:gd name="adj" fmla="val 13333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14B8A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207000"/>
            <a:ext cx="558800" cy="558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51181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管理缺失，安全“隐患重重”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缺乏统一审核，个人隐私易泄露，虚假广告信息泛滥，影响信息可信度。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rcRect l="6410" r="6410"/>
          <a:stretch>
            <a:fillRect/>
          </a:stretch>
        </p:blipFill>
        <p:spPr>
          <a:xfrm>
            <a:off x="6731000" y="1778000"/>
            <a:ext cx="4318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solidFill>
              <a:srgbClr val="14B8A6">
                <a:alpha val="4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9" name="AutoShape 19"/>
          <p:cNvSpPr/>
          <p:nvPr/>
        </p:nvSpPr>
        <p:spPr>
          <a:xfrm>
            <a:off x="6731000" y="4762500"/>
            <a:ext cx="4318000" cy="889000"/>
          </a:xfrm>
          <a:prstGeom prst="roundRect">
            <a:avLst>
              <a:gd name="adj" fmla="val 14285"/>
            </a:avLst>
          </a:prstGeom>
          <a:solidFill>
            <a:srgbClr val="14B8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0" rIns="19050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现状痛点：</a:t>
            </a:r>
            <a:r>
              <a:rPr lang="en-US" sz="1300" b="0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各渠道信息割裂，形成孤立的“信息岛屿”，沟通成本极高。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0" y="6096000"/>
            <a:ext cx="12192000" cy="762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4B8A6">
                  <a:alpha val="100000"/>
                </a:srgbClr>
              </a:gs>
              <a:gs pos="100000">
                <a:srgbClr val="0D9488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传统模式效率低下，亟待数字化升级</a:t>
            </a:r>
            <a:endParaRPr lang="en-US" sz="1100"/>
          </a:p>
        </p:txBody>
      </p:sp>
      <p:pic>
        <p:nvPicPr>
          <p:cNvPr id="21" name="图片 20" descr="ae5d5564380e8049ca186a9801eb1f0">
            <a:extLst>
              <a:ext uri="{FF2B5EF4-FFF2-40B4-BE49-F238E27FC236}">
                <a16:creationId xmlns:a16="http://schemas.microsoft.com/office/drawing/2014/main" id="{702745E8-6501-5CF2-9345-EC3351D663C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rcRect l="3658" t="22262" b="24253"/>
          <a:stretch>
            <a:fillRect/>
          </a:stretch>
        </p:blipFill>
        <p:spPr>
          <a:xfrm>
            <a:off x="9041765" y="60960"/>
            <a:ext cx="2972435" cy="75057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6E7BF46-CDD2-9961-33B3-49066C56B9F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1474"/>
            <a:ext cx="878702" cy="87870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6015FEB8-7604-DD20-A734-D126F94586AD}"/>
              </a:ext>
            </a:extLst>
          </p:cNvPr>
          <p:cNvSpPr txBox="1"/>
          <p:nvPr/>
        </p:nvSpPr>
        <p:spPr>
          <a:xfrm>
            <a:off x="770708" y="241469"/>
            <a:ext cx="3554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拾光循迹</a:t>
            </a:r>
            <a:r>
              <a:rPr lang="en-US" altLang="zh-CN" sz="1600" dirty="0">
                <a:solidFill>
                  <a:schemeClr val="tx1"/>
                </a:solidFill>
              </a:rPr>
              <a:t>·</a:t>
            </a:r>
            <a:r>
              <a:rPr lang="zh-CN" altLang="en-US" sz="1600" dirty="0">
                <a:solidFill>
                  <a:schemeClr val="tx1"/>
                </a:solidFill>
              </a:rPr>
              <a:t>队长说什么都对队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我们的解决方案</a:t>
            </a:r>
            <a:r>
              <a:rPr lang="en-US" sz="2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2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拾光循迹</a:t>
            </a:r>
            <a:r>
              <a:rPr lang="en-US" sz="2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一站式平台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016000" y="1206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重塑校园失物招领流程，用技术传递温暖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1905000"/>
            <a:ext cx="762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333500" y="2095500"/>
            <a:ext cx="762000" cy="762000"/>
          </a:xfrm>
          <a:prstGeom prst="ellipse">
            <a:avLst/>
          </a:prstGeom>
          <a:solidFill>
            <a:srgbClr val="14B8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5900" y="22479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286000" y="20320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校园轻量级工具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基于微信小程序，即用即走，无需下载，触手可及的校园服务。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32385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3238500"/>
            <a:ext cx="762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333500" y="3429000"/>
            <a:ext cx="762000" cy="762000"/>
          </a:xfrm>
          <a:prstGeom prst="ellipse">
            <a:avLst/>
          </a:prstGeom>
          <a:solidFill>
            <a:srgbClr val="14B8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5900" y="35814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286000" y="3365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完整闭环的原型系统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微信云开发搭建后端，实现从发布到认领的业务闭环，扩展性强。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016000" y="4572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4572000"/>
            <a:ext cx="762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333500" y="4762500"/>
            <a:ext cx="762000" cy="762000"/>
          </a:xfrm>
          <a:prstGeom prst="ellipse">
            <a:avLst/>
          </a:prstGeom>
          <a:solidFill>
            <a:srgbClr val="14B8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5900" y="49149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2286000" y="46990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互助公益信息平台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弘扬拾金不昧美德，营造互助友爱氛围，让校园生活更有温度。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rcRect l="4761" t="4954" r="4761" b="4954"/>
          <a:stretch>
            <a:fillRect/>
          </a:stretch>
        </p:blipFill>
        <p:spPr>
          <a:xfrm>
            <a:off x="6731000" y="2032000"/>
            <a:ext cx="4826000" cy="2540000"/>
          </a:xfrm>
          <a:prstGeom prst="roundRect">
            <a:avLst>
              <a:gd name="adj" fmla="val 10000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000000">
                <a:alpha val="18000"/>
              </a:srgbClr>
            </a:outerShdw>
          </a:effectLst>
        </p:spPr>
      </p:pic>
      <p:sp>
        <p:nvSpPr>
          <p:cNvPr id="22" name="AutoShape 22"/>
          <p:cNvSpPr/>
          <p:nvPr/>
        </p:nvSpPr>
        <p:spPr>
          <a:xfrm>
            <a:off x="6731000" y="4826000"/>
            <a:ext cx="4826000" cy="762000"/>
          </a:xfrm>
          <a:prstGeom prst="roundRect">
            <a:avLst>
              <a:gd name="adj" fmla="val 33333"/>
            </a:avLst>
          </a:prstGeom>
          <a:solidFill>
            <a:srgbClr val="14B8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731000" y="49784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科技赋能 · 高效寻物 · 温暖校园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图片 24" descr="ae5d5564380e8049ca186a9801eb1f0">
            <a:extLst>
              <a:ext uri="{FF2B5EF4-FFF2-40B4-BE49-F238E27FC236}">
                <a16:creationId xmlns:a16="http://schemas.microsoft.com/office/drawing/2014/main" id="{E60A70B5-A68E-6331-B3FC-55E5FD0C3A5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 l="3658" t="22262" b="24253"/>
          <a:stretch>
            <a:fillRect/>
          </a:stretch>
        </p:blipFill>
        <p:spPr>
          <a:xfrm>
            <a:off x="9219565" y="0"/>
            <a:ext cx="2972435" cy="75057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F4D721EE-CFFC-0B97-789B-DDAA9804B3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1474"/>
            <a:ext cx="878702" cy="878702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D72A60C3-6059-B4EA-5B04-3C961AA2491F}"/>
              </a:ext>
            </a:extLst>
          </p:cNvPr>
          <p:cNvSpPr txBox="1"/>
          <p:nvPr/>
        </p:nvSpPr>
        <p:spPr>
          <a:xfrm>
            <a:off x="770708" y="241469"/>
            <a:ext cx="3554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拾光循迹</a:t>
            </a:r>
            <a:r>
              <a:rPr lang="en-US" altLang="zh-CN" sz="1600" dirty="0">
                <a:solidFill>
                  <a:schemeClr val="tx1"/>
                </a:solidFill>
              </a:rPr>
              <a:t>·</a:t>
            </a:r>
            <a:r>
              <a:rPr lang="zh-CN" altLang="en-US" sz="1600" dirty="0">
                <a:solidFill>
                  <a:schemeClr val="tx1"/>
                </a:solidFill>
              </a:rPr>
              <a:t>队长说什么都对队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8238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715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项目目标 - 打造校园失物招领新生态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6EE7B7">
              <a:alpha val="18000"/>
            </a:srgbClr>
          </a:solidFill>
          <a:ln w="12700" cap="flat" cmpd="sng">
            <a:solidFill>
              <a:srgbClr val="6EE7B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核心愿景：构建一个轻量化、易传播、可扩展的校园失物招领服务平台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33782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2730500"/>
            <a:ext cx="711200" cy="711200"/>
          </a:xfrm>
          <a:prstGeom prst="ellipse">
            <a:avLst/>
          </a:prstGeom>
          <a:solidFill>
            <a:srgbClr val="6EE7B7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400" y="28829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854200" y="27305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统一入口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提供规范的信息发布平台，聚合分散信息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94200" y="2413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94200" y="2413000"/>
            <a:ext cx="33782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648200" y="2730500"/>
            <a:ext cx="711200" cy="711200"/>
          </a:xfrm>
          <a:prstGeom prst="ellipse">
            <a:avLst/>
          </a:prstGeom>
          <a:solidFill>
            <a:srgbClr val="6EE7B7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0600" y="28829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486400" y="27305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高效查询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实现精准的分类浏览与关键词快速检索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26400" y="2413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26400" y="2413000"/>
            <a:ext cx="33782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280400" y="2730500"/>
            <a:ext cx="711200" cy="711200"/>
          </a:xfrm>
          <a:prstGeom prst="ellipse">
            <a:avLst/>
          </a:prstGeom>
          <a:solidFill>
            <a:srgbClr val="6EE7B7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2800" y="28829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118600" y="27305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便捷发布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流程简单直观，支持图片上传快速录入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62000" y="4318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62000" y="431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4635500"/>
            <a:ext cx="711200" cy="711200"/>
          </a:xfrm>
          <a:prstGeom prst="ellipse">
            <a:avLst/>
          </a:prstGeom>
          <a:solidFill>
            <a:srgbClr val="F59E0B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8400" y="47879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854200" y="46355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业务闭环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打通“发布—查找—联系—完成”全流程</a:t>
            </a:r>
          </a:p>
        </p:txBody>
      </p:sp>
      <p:sp>
        <p:nvSpPr>
          <p:cNvPr id="26" name="AutoShape 26"/>
          <p:cNvSpPr/>
          <p:nvPr/>
        </p:nvSpPr>
        <p:spPr>
          <a:xfrm>
            <a:off x="4394200" y="4318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4394200" y="431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4648200" y="4635500"/>
            <a:ext cx="711200" cy="711200"/>
          </a:xfrm>
          <a:prstGeom prst="ellipse">
            <a:avLst/>
          </a:prstGeom>
          <a:solidFill>
            <a:srgbClr val="F59E0B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00600" y="47879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5486400" y="46355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规范管理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引入审核机制，确保平台信息真实有效</a:t>
            </a:r>
          </a:p>
        </p:txBody>
      </p:sp>
      <p:sp>
        <p:nvSpPr>
          <p:cNvPr id="31" name="AutoShape 31"/>
          <p:cNvSpPr/>
          <p:nvPr/>
        </p:nvSpPr>
        <p:spPr>
          <a:xfrm>
            <a:off x="8026400" y="4318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026400" y="431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280400" y="4635500"/>
            <a:ext cx="711200" cy="711200"/>
          </a:xfrm>
          <a:prstGeom prst="ellipse">
            <a:avLst/>
          </a:prstGeom>
          <a:solidFill>
            <a:srgbClr val="F59E0B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32800" y="4787900"/>
            <a:ext cx="406400" cy="4064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9118600" y="46355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技术可行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基于微信云开发，低成本快速落地推广</a:t>
            </a:r>
          </a:p>
        </p:txBody>
      </p:sp>
      <p:sp>
        <p:nvSpPr>
          <p:cNvPr id="36" name="AutoShape 36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EE7B7">
                  <a:alpha val="100000"/>
                </a:srgbClr>
              </a:gs>
              <a:gs pos="100000">
                <a:srgbClr val="F59E0B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7" name="图片 36" descr="ae5d5564380e8049ca186a9801eb1f0">
            <a:extLst>
              <a:ext uri="{FF2B5EF4-FFF2-40B4-BE49-F238E27FC236}">
                <a16:creationId xmlns:a16="http://schemas.microsoft.com/office/drawing/2014/main" id="{9BAA2E48-E6B0-E75F-1D01-0DE7A37D972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rcRect l="3658" t="22262" b="24253"/>
          <a:stretch>
            <a:fillRect/>
          </a:stretch>
        </p:blipFill>
        <p:spPr>
          <a:xfrm>
            <a:off x="9219565" y="0"/>
            <a:ext cx="2972435" cy="75057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792AAF23-932F-5593-82FF-3FD7A21BF06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1474"/>
            <a:ext cx="878702" cy="878702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BC1E8B5C-8296-38A1-D103-0A280791DDB6}"/>
              </a:ext>
            </a:extLst>
          </p:cNvPr>
          <p:cNvSpPr txBox="1"/>
          <p:nvPr/>
        </p:nvSpPr>
        <p:spPr>
          <a:xfrm>
            <a:off x="770708" y="241469"/>
            <a:ext cx="3554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拾光循迹</a:t>
            </a:r>
            <a:r>
              <a:rPr lang="en-US" altLang="zh-CN" sz="1600" dirty="0">
                <a:solidFill>
                  <a:schemeClr val="tx1"/>
                </a:solidFill>
              </a:rPr>
              <a:t>·</a:t>
            </a:r>
            <a:r>
              <a:rPr lang="zh-CN" altLang="en-US" sz="1600" dirty="0">
                <a:solidFill>
                  <a:schemeClr val="tx1"/>
                </a:solidFill>
              </a:rPr>
              <a:t>队长说什么都对队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项目定位 - 不止于工具，更是校园互助平台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EE7B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基于“工具+系统+公益”三位一体的校园微创新解决方案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3937000"/>
          </a:xfrm>
          <a:prstGeom prst="roundRect">
            <a:avLst>
              <a:gd name="adj" fmla="val 6153"/>
            </a:avLst>
          </a:prstGeom>
          <a:solidFill>
            <a:srgbClr val="6EE7B7">
              <a:alpha val="12000"/>
            </a:srgbClr>
          </a:solidFill>
          <a:ln cap="flat" cmpd="sng">
            <a:solidFill>
              <a:srgbClr val="4DCE9B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841500" y="2286000"/>
            <a:ext cx="1143000" cy="1143000"/>
          </a:xfrm>
          <a:prstGeom prst="ellipse">
            <a:avLst/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5500" y="25400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952500" y="3619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校园工具类服务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191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面向师生与管理者，精准解决校园生活痛点，提供便捷高效的数字化工具服务。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905000"/>
            <a:ext cx="3302000" cy="3937000"/>
          </a:xfrm>
          <a:prstGeom prst="roundRect">
            <a:avLst>
              <a:gd name="adj" fmla="val 6153"/>
            </a:avLst>
          </a:prstGeom>
          <a:solidFill>
            <a:srgbClr val="6EE7B7">
              <a:alpha val="12000"/>
            </a:srgbClr>
          </a:solidFill>
          <a:ln cap="flat" cmpd="sng">
            <a:solidFill>
              <a:srgbClr val="4DCE9B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524500" y="2286000"/>
            <a:ext cx="1143000" cy="1143000"/>
          </a:xfrm>
          <a:prstGeom prst="ellipse">
            <a:avLst/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8500" y="2540000"/>
            <a:ext cx="635000" cy="635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35500" y="3619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可落地原型系统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4191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兼顾“微创新”比赛展示标准，架构清晰、功能完整，具备真实运行的技术落地基础。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905000"/>
            <a:ext cx="3302000" cy="3937000"/>
          </a:xfrm>
          <a:prstGeom prst="roundRect">
            <a:avLst>
              <a:gd name="adj" fmla="val 6153"/>
            </a:avLst>
          </a:prstGeom>
          <a:solidFill>
            <a:srgbClr val="6EE7B7">
              <a:alpha val="12000"/>
            </a:srgbClr>
          </a:solidFill>
          <a:ln cap="flat" cmpd="sng">
            <a:solidFill>
              <a:srgbClr val="4DCE9B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207500" y="2286000"/>
            <a:ext cx="1143000" cy="1143000"/>
          </a:xfrm>
          <a:prstGeom prst="ellipse">
            <a:avLst/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2540000"/>
            <a:ext cx="635000" cy="635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318500" y="3619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公益互助平台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4191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弘扬拾金不昧精神，搭建信息桥梁，营造友善互助、文明和谐的校园文化氛围。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6159500"/>
            <a:ext cx="12192000" cy="6985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0" y="6286500"/>
            <a:ext cx="1219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技术赋能校园 · 互助连接你我</a:t>
            </a:r>
            <a:endParaRPr lang="en-US" sz="1100"/>
          </a:p>
        </p:txBody>
      </p:sp>
      <p:pic>
        <p:nvPicPr>
          <p:cNvPr id="21" name="图片 20" descr="ae5d5564380e8049ca186a9801eb1f0">
            <a:extLst>
              <a:ext uri="{FF2B5EF4-FFF2-40B4-BE49-F238E27FC236}">
                <a16:creationId xmlns:a16="http://schemas.microsoft.com/office/drawing/2014/main" id="{618D6DC0-AF21-C0C0-472C-A96E884A1B9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rcRect l="3658" t="22262" b="24253"/>
          <a:stretch>
            <a:fillRect/>
          </a:stretch>
        </p:blipFill>
        <p:spPr>
          <a:xfrm>
            <a:off x="9219565" y="0"/>
            <a:ext cx="2972435" cy="75057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4C760B50-F70B-4678-F15B-AB5E1B9857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1474"/>
            <a:ext cx="878702" cy="87870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5AADDED-E50A-36BA-4E67-9423A5DD4114}"/>
              </a:ext>
            </a:extLst>
          </p:cNvPr>
          <p:cNvSpPr txBox="1"/>
          <p:nvPr/>
        </p:nvSpPr>
        <p:spPr>
          <a:xfrm>
            <a:off x="770708" y="241469"/>
            <a:ext cx="3554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拾光循迹</a:t>
            </a:r>
            <a:r>
              <a:rPr lang="en-US" altLang="zh-CN" sz="1600" dirty="0">
                <a:solidFill>
                  <a:schemeClr val="tx1"/>
                </a:solidFill>
              </a:rPr>
              <a:t>·</a:t>
            </a:r>
            <a:r>
              <a:rPr lang="zh-CN" altLang="en-US" sz="1600" dirty="0">
                <a:solidFill>
                  <a:schemeClr val="tx1"/>
                </a:solidFill>
              </a:rPr>
              <a:t>队长说什么都对队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l="4545" r="4545"/>
          <a:stretch>
            <a:fillRect/>
          </a:stretch>
        </p:blipFill>
        <p:spPr>
          <a:xfrm>
            <a:off x="635000" y="1710516"/>
            <a:ext cx="5334000" cy="3302000"/>
          </a:xfrm>
          <a:prstGeom prst="roundRect">
            <a:avLst>
              <a:gd name="adj" fmla="val 5769"/>
            </a:avLst>
          </a:prstGeom>
          <a:noFill/>
          <a:ln w="38100" cap="flat" cmpd="sng">
            <a:solidFill>
              <a:srgbClr val="14B8A6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14B8A6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35000" y="5203016"/>
            <a:ext cx="5334000" cy="584200"/>
          </a:xfrm>
          <a:prstGeom prst="roundRect">
            <a:avLst>
              <a:gd name="adj" fmla="val 21739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服务闭环：发布 ➔ 查找 ➔ 联系 ➔ 完成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5901516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从用户需求发起，到问题解决完成，全链路闭环设计保障服务效率与用户体验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740502"/>
            <a:ext cx="565179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核心功能矩阵：构建完整服务闭环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6604000" y="140335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围绕用户核心场景，打造六大核心功能模块</a:t>
            </a:r>
            <a:endParaRPr lang="en-US" dirty="0"/>
          </a:p>
        </p:txBody>
      </p:sp>
      <p:sp>
        <p:nvSpPr>
          <p:cNvPr id="9" name="AutoShape 9"/>
          <p:cNvSpPr/>
          <p:nvPr/>
        </p:nvSpPr>
        <p:spPr>
          <a:xfrm>
            <a:off x="6604000" y="2032000"/>
            <a:ext cx="24765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6400" y="2222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93000" y="2159000"/>
            <a:ext cx="146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首页模块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信息总览，一键发布丢失</a:t>
            </a:r>
            <a:r>
              <a:rPr lang="en-US" sz="11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捡到信息</a:t>
            </a:r>
            <a:endParaRPr lang="en-US" sz="11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207500" y="2032000"/>
            <a:ext cx="24765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9900" y="2222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0096500" y="2159000"/>
            <a:ext cx="146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发布模块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结构化表单，规范填写关键信息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604000" y="3302000"/>
            <a:ext cx="24765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56400" y="34925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493000" y="3429000"/>
            <a:ext cx="146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列表模块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多维筛选，精准查找目标物品</a:t>
            </a:r>
          </a:p>
        </p:txBody>
      </p:sp>
      <p:sp>
        <p:nvSpPr>
          <p:cNvPr id="18" name="AutoShape 18"/>
          <p:cNvSpPr/>
          <p:nvPr/>
        </p:nvSpPr>
        <p:spPr>
          <a:xfrm>
            <a:off x="9207500" y="3302000"/>
            <a:ext cx="24765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59900" y="34925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0096500" y="3429000"/>
            <a:ext cx="146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详情模块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完整展示，一键复制联系方式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604000" y="4572000"/>
            <a:ext cx="24765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56400" y="4762500"/>
            <a:ext cx="609600" cy="609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493000" y="4699000"/>
            <a:ext cx="146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我的发布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个人中心，管理回顾发布记录</a:t>
            </a:r>
          </a:p>
        </p:txBody>
      </p:sp>
      <p:sp>
        <p:nvSpPr>
          <p:cNvPr id="24" name="AutoShape 24"/>
          <p:cNvSpPr/>
          <p:nvPr/>
        </p:nvSpPr>
        <p:spPr>
          <a:xfrm>
            <a:off x="9207500" y="4572000"/>
            <a:ext cx="24765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59900" y="4762500"/>
            <a:ext cx="609600" cy="609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0096500" y="4699000"/>
            <a:ext cx="146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管理中心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审核管理，确保平台内容安全</a:t>
            </a:r>
          </a:p>
        </p:txBody>
      </p:sp>
      <p:sp>
        <p:nvSpPr>
          <p:cNvPr id="27" name="AutoShape 27"/>
          <p:cNvSpPr/>
          <p:nvPr/>
        </p:nvSpPr>
        <p:spPr>
          <a:xfrm>
            <a:off x="0" y="67310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图片 27" descr="ae5d5564380e8049ca186a9801eb1f0">
            <a:extLst>
              <a:ext uri="{FF2B5EF4-FFF2-40B4-BE49-F238E27FC236}">
                <a16:creationId xmlns:a16="http://schemas.microsoft.com/office/drawing/2014/main" id="{F51EA9BD-B2C3-4736-6689-246E2DE1BF2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rcRect l="3658" t="22262" b="24253"/>
          <a:stretch>
            <a:fillRect/>
          </a:stretch>
        </p:blipFill>
        <p:spPr>
          <a:xfrm>
            <a:off x="9219565" y="0"/>
            <a:ext cx="2972435" cy="75057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02954836-7F1C-5903-382B-A1611DF24AF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1474"/>
            <a:ext cx="878702" cy="878702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4187138-0CC4-E0E1-375B-BAB2F75085D8}"/>
              </a:ext>
            </a:extLst>
          </p:cNvPr>
          <p:cNvSpPr txBox="1"/>
          <p:nvPr/>
        </p:nvSpPr>
        <p:spPr>
          <a:xfrm>
            <a:off x="770708" y="241469"/>
            <a:ext cx="3554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拾光循迹</a:t>
            </a:r>
            <a:r>
              <a:rPr lang="en-US" altLang="zh-CN" sz="1600" dirty="0">
                <a:solidFill>
                  <a:schemeClr val="tx1"/>
                </a:solidFill>
              </a:rPr>
              <a:t>·</a:t>
            </a:r>
            <a:r>
              <a:rPr lang="zh-CN" altLang="en-US" sz="1600" dirty="0">
                <a:solidFill>
                  <a:schemeClr val="tx1"/>
                </a:solidFill>
              </a:rPr>
              <a:t>队长说什么都对队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交互设计亮点：打造流畅便捷的用户体验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556000" cy="4318000"/>
          </a:xfrm>
          <a:prstGeom prst="roundRect">
            <a:avLst>
              <a:gd name="adj" fmla="val 7142"/>
            </a:avLst>
          </a:prstGeom>
          <a:solidFill>
            <a:srgbClr val="6EE7B7">
              <a:alpha val="15000"/>
            </a:srgbClr>
          </a:solidFill>
          <a:ln cap="flat" cmpd="sng">
            <a:solidFill>
              <a:srgbClr val="4DCE9B">
                <a:alpha val="15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6EE7B7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4500" y="2413000"/>
            <a:ext cx="1651000" cy="1651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4318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User-Centric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以人为本的交互体验</a:t>
            </a:r>
          </a:p>
        </p:txBody>
      </p:sp>
      <p:sp>
        <p:nvSpPr>
          <p:cNvPr id="6" name="AutoShape 6"/>
          <p:cNvSpPr/>
          <p:nvPr/>
        </p:nvSpPr>
        <p:spPr>
          <a:xfrm>
            <a:off x="4699000" y="1651000"/>
            <a:ext cx="6731000" cy="762000"/>
          </a:xfrm>
          <a:prstGeom prst="roundRect">
            <a:avLst>
              <a:gd name="adj" fmla="val 16666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6EE7B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18034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588000" y="17145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快捷入口明确：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首页双按钮直观引导，降低用户操作门槛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99000" y="2565400"/>
            <a:ext cx="6731000" cy="762000"/>
          </a:xfrm>
          <a:prstGeom prst="roundRect">
            <a:avLst>
              <a:gd name="adj" fmla="val 16666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6EE7B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3000" y="27178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588000" y="26289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卡片式信息展示：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层级清晰，适配移动端碎片化浏览习惯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479800"/>
            <a:ext cx="6731000" cy="762000"/>
          </a:xfrm>
          <a:prstGeom prst="roundRect">
            <a:avLst>
              <a:gd name="adj" fmla="val 16666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6EE7B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53000" y="36322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588000" y="35433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状态与审核可视化：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标签化呈现流程进度，规则透明可感知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99000" y="4394200"/>
            <a:ext cx="6731000" cy="762000"/>
          </a:xfrm>
          <a:prstGeom prst="roundRect">
            <a:avLst>
              <a:gd name="adj" fmla="val 16666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6EE7B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3000" y="45466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588000" y="44577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联系信息一键复制：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提升沟通效率，减少手动输入误差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99000" y="5308600"/>
            <a:ext cx="6731000" cy="762000"/>
          </a:xfrm>
          <a:prstGeom prst="roundRect">
            <a:avLst>
              <a:gd name="adj" fmla="val 16666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6EE7B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53000" y="54610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588000" y="53721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下拉刷新与最新高亮：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信息实时更新，确保用户获取最新动态</a:t>
            </a:r>
            <a:endParaRPr lang="en-US" sz="1100"/>
          </a:p>
        </p:txBody>
      </p:sp>
      <p:pic>
        <p:nvPicPr>
          <p:cNvPr id="21" name="图片 20" descr="ae5d5564380e8049ca186a9801eb1f0">
            <a:extLst>
              <a:ext uri="{FF2B5EF4-FFF2-40B4-BE49-F238E27FC236}">
                <a16:creationId xmlns:a16="http://schemas.microsoft.com/office/drawing/2014/main" id="{B46EDCE3-7BAC-5E43-CAA2-6FA4DA1D75C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rcRect l="3658" t="22262" b="24253"/>
          <a:stretch>
            <a:fillRect/>
          </a:stretch>
        </p:blipFill>
        <p:spPr>
          <a:xfrm>
            <a:off x="9219565" y="0"/>
            <a:ext cx="2972435" cy="75057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3AC05FA-398E-5887-6BC8-D8A370B39F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1474"/>
            <a:ext cx="878702" cy="87870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D45CE79D-5F30-35CF-C8B5-A912CCEC051F}"/>
              </a:ext>
            </a:extLst>
          </p:cNvPr>
          <p:cNvSpPr txBox="1"/>
          <p:nvPr/>
        </p:nvSpPr>
        <p:spPr>
          <a:xfrm>
            <a:off x="770708" y="241469"/>
            <a:ext cx="3554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拾光循迹</a:t>
            </a:r>
            <a:r>
              <a:rPr lang="en-US" altLang="zh-CN" sz="1600" dirty="0">
                <a:solidFill>
                  <a:schemeClr val="tx1"/>
                </a:solidFill>
              </a:rPr>
              <a:t>·</a:t>
            </a:r>
            <a:r>
              <a:rPr lang="zh-CN" altLang="en-US" sz="1600" dirty="0">
                <a:solidFill>
                  <a:schemeClr val="tx1"/>
                </a:solidFill>
              </a:rPr>
              <a:t>队长说什么都对队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技术方案选型：微信生态全栈开发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06550"/>
            <a:ext cx="3556000" cy="4318000"/>
          </a:xfrm>
          <a:prstGeom prst="roundRect">
            <a:avLst>
              <a:gd name="adj" fmla="val 5714"/>
            </a:avLst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6EE7B7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0400" y="2286000"/>
            <a:ext cx="1219200" cy="1219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762000" y="3683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4E3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项目核心定位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191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04785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专注于快速原型开发与产品展示</a:t>
            </a:r>
            <a:br>
              <a:rPr lang="en-US" sz="1500" b="0" i="0" u="none" strike="noStrike">
                <a:solidFill>
                  <a:srgbClr val="04785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500" b="0" i="0" u="none" strike="noStrike">
                <a:solidFill>
                  <a:srgbClr val="04785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同时兼顾未来业务的灵活扩展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699000" y="1651000"/>
            <a:ext cx="6731000" cy="2032000"/>
          </a:xfrm>
          <a:prstGeom prst="roundRect">
            <a:avLst>
              <a:gd name="adj" fmla="val 75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016500" y="2032000"/>
            <a:ext cx="1270000" cy="1270000"/>
          </a:xfrm>
          <a:prstGeom prst="ellipse">
            <a:avLst/>
          </a:prstGeom>
          <a:solidFill>
            <a:srgbClr val="6EE7B7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7500" y="2413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5405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前端：微信小程序原生开发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40500" y="2413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优势：性能优越流畅，完美适配微信生态体验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技术栈：WXML / WXSS / JavaScript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699000" y="3937000"/>
            <a:ext cx="6731000" cy="2032000"/>
          </a:xfrm>
          <a:prstGeom prst="roundRect">
            <a:avLst>
              <a:gd name="adj" fmla="val 75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016500" y="4318000"/>
            <a:ext cx="1270000" cy="1270000"/>
          </a:xfrm>
          <a:prstGeom prst="ellipse">
            <a:avLst/>
          </a:prstGeom>
          <a:solidFill>
            <a:srgbClr val="6EE7B7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7500" y="4699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540500" y="4191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后端：微信云开发 (CloudBase)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40500" y="4699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优势：免服务器运维，开发效率高，部署成本低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核心：云数据库 / 云存储 / 云函数服务</a:t>
            </a:r>
          </a:p>
        </p:txBody>
      </p:sp>
      <p:sp>
        <p:nvSpPr>
          <p:cNvPr id="17" name="AutoShape 17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1BBDC31-5F94-3663-6AF2-ADF447C963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1474"/>
            <a:ext cx="878702" cy="87870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D58DA0FD-91C3-D534-9B5B-A699A8442C25}"/>
              </a:ext>
            </a:extLst>
          </p:cNvPr>
          <p:cNvSpPr txBox="1"/>
          <p:nvPr/>
        </p:nvSpPr>
        <p:spPr>
          <a:xfrm>
            <a:off x="770708" y="241469"/>
            <a:ext cx="3554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拾光循迹</a:t>
            </a:r>
            <a:r>
              <a:rPr lang="en-US" altLang="zh-CN" sz="1600" dirty="0">
                <a:solidFill>
                  <a:schemeClr val="tx1"/>
                </a:solidFill>
              </a:rPr>
              <a:t>·</a:t>
            </a:r>
            <a:r>
              <a:rPr lang="zh-CN" altLang="en-US" sz="1600" dirty="0">
                <a:solidFill>
                  <a:schemeClr val="tx1"/>
                </a:solidFill>
              </a:rPr>
              <a:t>队长说什么都对队</a:t>
            </a:r>
          </a:p>
        </p:txBody>
      </p:sp>
      <p:pic>
        <p:nvPicPr>
          <p:cNvPr id="20" name="图片 19" descr="ae5d5564380e8049ca186a9801eb1f0">
            <a:extLst>
              <a:ext uri="{FF2B5EF4-FFF2-40B4-BE49-F238E27FC236}">
                <a16:creationId xmlns:a16="http://schemas.microsoft.com/office/drawing/2014/main" id="{2CC7FE0E-5890-6009-E5A7-16ECC38AAA4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 l="3658" t="22262" b="24253"/>
          <a:stretch>
            <a:fillRect/>
          </a:stretch>
        </p:blipFill>
        <p:spPr>
          <a:xfrm>
            <a:off x="9219565" y="0"/>
            <a:ext cx="2972435" cy="7505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43238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系统架构分层解析：前端小程序 + 云开发服务端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9839" r="9839"/>
          <a:stretch>
            <a:fillRect/>
          </a:stretch>
        </p:blipFill>
        <p:spPr>
          <a:xfrm>
            <a:off x="762000" y="1524000"/>
            <a:ext cx="5080000" cy="3556000"/>
          </a:xfrm>
          <a:prstGeom prst="roundRect">
            <a:avLst>
              <a:gd name="adj" fmla="val 5357"/>
            </a:avLst>
          </a:prstGeom>
          <a:noFill/>
          <a:ln w="25400" cap="flat" cmpd="sng">
            <a:solidFill>
              <a:srgbClr val="6EE7B7">
                <a:alpha val="10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1F2937">
                <a:alpha val="1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762000" y="5270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EE7B7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架构分层示意图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1524000"/>
            <a:ext cx="5080000" cy="914400"/>
          </a:xfrm>
          <a:prstGeom prst="roundRect">
            <a:avLst>
              <a:gd name="adj" fmla="val 13888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6EE7B7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17272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239000" y="1651000"/>
            <a:ext cx="393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展示层 (View)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小程序页面、组件、表单、列表等交互UI元素</a:t>
            </a:r>
          </a:p>
        </p:txBody>
      </p:sp>
      <p:sp>
        <p:nvSpPr>
          <p:cNvPr id="8" name="AutoShape 8"/>
          <p:cNvSpPr/>
          <p:nvPr/>
        </p:nvSpPr>
        <p:spPr>
          <a:xfrm>
            <a:off x="6350000" y="2565400"/>
            <a:ext cx="5080000" cy="914400"/>
          </a:xfrm>
          <a:prstGeom prst="roundRect">
            <a:avLst>
              <a:gd name="adj" fmla="val 13888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6EE7B7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7686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2692400"/>
            <a:ext cx="393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业务逻辑层 (Logic)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处理页面跳转、发布、筛选及状态切换逻辑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350000" y="3606800"/>
            <a:ext cx="5080000" cy="914400"/>
          </a:xfrm>
          <a:prstGeom prst="roundRect">
            <a:avLst>
              <a:gd name="adj" fmla="val 13888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6EE7B7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3810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239000" y="3733800"/>
            <a:ext cx="393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云服务层 (Service)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提供云数据库读写、文件存储及后端云函数能力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350000" y="4648200"/>
            <a:ext cx="5080000" cy="914400"/>
          </a:xfrm>
          <a:prstGeom prst="roundRect">
            <a:avLst>
              <a:gd name="adj" fmla="val 13888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6EE7B7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8514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239000" y="4775200"/>
            <a:ext cx="393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 (Data)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持久化存储帖子内容、用户资料及管理员名单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4000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584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核心优势：高内聚低耦合架构，保障系统的可维护性与快速扩展能力</a:t>
            </a:r>
            <a:endParaRPr lang="en-US" sz="1100"/>
          </a:p>
        </p:txBody>
      </p:sp>
      <p:pic>
        <p:nvPicPr>
          <p:cNvPr id="19" name="图片 18" descr="ae5d5564380e8049ca186a9801eb1f0">
            <a:extLst>
              <a:ext uri="{FF2B5EF4-FFF2-40B4-BE49-F238E27FC236}">
                <a16:creationId xmlns:a16="http://schemas.microsoft.com/office/drawing/2014/main" id="{D3503AD2-80B8-725E-7C2E-FBAACB76B96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 l="3658" t="22262" b="24253"/>
          <a:stretch>
            <a:fillRect/>
          </a:stretch>
        </p:blipFill>
        <p:spPr>
          <a:xfrm>
            <a:off x="9219565" y="0"/>
            <a:ext cx="2972435" cy="75057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2F076FA-3B53-6337-E397-1334405D0F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1474"/>
            <a:ext cx="878702" cy="87870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E2C3BE27-5213-5A67-1933-63FAC9654682}"/>
              </a:ext>
            </a:extLst>
          </p:cNvPr>
          <p:cNvSpPr txBox="1"/>
          <p:nvPr/>
        </p:nvSpPr>
        <p:spPr>
          <a:xfrm>
            <a:off x="770708" y="241469"/>
            <a:ext cx="3554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拾光循迹</a:t>
            </a:r>
            <a:r>
              <a:rPr lang="en-US" altLang="zh-CN" sz="1600" dirty="0">
                <a:solidFill>
                  <a:schemeClr val="tx1"/>
                </a:solidFill>
              </a:rPr>
              <a:t>·</a:t>
            </a:r>
            <a:r>
              <a:rPr lang="zh-CN" altLang="en-US" sz="1600" dirty="0">
                <a:solidFill>
                  <a:schemeClr val="tx1"/>
                </a:solidFill>
              </a:rPr>
              <a:t>队长说什么都对队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76445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项目核心创新点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374945"/>
            <a:ext cx="762000" cy="508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476500" cy="3683000"/>
          </a:xfrm>
          <a:prstGeom prst="roundRect">
            <a:avLst>
              <a:gd name="adj" fmla="val 6153"/>
            </a:avLst>
          </a:prstGeom>
          <a:solidFill>
            <a:srgbClr val="6EE7B7">
              <a:alpha val="1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6EE7B7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485900" y="2032000"/>
            <a:ext cx="1016000" cy="1016000"/>
          </a:xfrm>
          <a:prstGeom prst="ellipse">
            <a:avLst/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6400" y="22225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952500" y="32385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双重审核机制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7465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引入“基础自动审核+人工管理”，相比传统公告栏，显著提升平台内容规范性与可信度。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651000"/>
            <a:ext cx="2476500" cy="3683000"/>
          </a:xfrm>
          <a:prstGeom prst="roundRect">
            <a:avLst>
              <a:gd name="adj" fmla="val 6153"/>
            </a:avLst>
          </a:prstGeom>
          <a:solidFill>
            <a:srgbClr val="6EE7B7">
              <a:alpha val="1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6EE7B7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216400" y="2032000"/>
            <a:ext cx="1016000" cy="1016000"/>
          </a:xfrm>
          <a:prstGeom prst="ellipse">
            <a:avLst/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06900" y="2222500"/>
            <a:ext cx="635000" cy="635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683000" y="32385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灵活权限管控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37465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利用云函数与数据库构建管理员白名单，实现权限的灵活分配与安全管理，夯实平台化基础。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2476500" cy="3683000"/>
          </a:xfrm>
          <a:prstGeom prst="roundRect">
            <a:avLst>
              <a:gd name="adj" fmla="val 6153"/>
            </a:avLst>
          </a:prstGeom>
          <a:solidFill>
            <a:srgbClr val="6EE7B7">
              <a:alpha val="1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6EE7B7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946900" y="2032000"/>
            <a:ext cx="1016000" cy="1016000"/>
          </a:xfrm>
          <a:prstGeom prst="ellipse">
            <a:avLst/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7400" y="2222500"/>
            <a:ext cx="635000" cy="635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413500" y="32385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隐私访问优化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37465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巧妙解决云存储私有读限制，在保障用户图片数据隐私安全的前提下，实现图片的高效访问。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53500" y="1651000"/>
            <a:ext cx="2476500" cy="3683000"/>
          </a:xfrm>
          <a:prstGeom prst="roundRect">
            <a:avLst>
              <a:gd name="adj" fmla="val 6153"/>
            </a:avLst>
          </a:prstGeom>
          <a:solidFill>
            <a:srgbClr val="6EE7B7">
              <a:alpha val="1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6EE7B7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677400" y="2032000"/>
            <a:ext cx="1016000" cy="1016000"/>
          </a:xfrm>
          <a:prstGeom prst="ellipse">
            <a:avLst/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7900" y="2222500"/>
            <a:ext cx="635000" cy="635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144000" y="32385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公益管理融合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44000" y="37465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将校园公益工具与平台管理功能深度结合，兼顾实际业务需求与系统的可管理性及未来扩展。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0" y="5969000"/>
            <a:ext cx="12192000" cy="8890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0" y="6121400"/>
            <a:ext cx="1219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核心价值：构建规范、安全、隐私、可持续的校园公益生态</a:t>
            </a:r>
            <a:endParaRPr lang="en-US" sz="110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B7E7EE82-4880-B3AD-2EC8-F61CA9F2E6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1474"/>
            <a:ext cx="878702" cy="878702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DAE41E09-3008-26EB-827D-9CAA338FD039}"/>
              </a:ext>
            </a:extLst>
          </p:cNvPr>
          <p:cNvSpPr txBox="1"/>
          <p:nvPr/>
        </p:nvSpPr>
        <p:spPr>
          <a:xfrm>
            <a:off x="770708" y="241469"/>
            <a:ext cx="3554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拾光循迹</a:t>
            </a:r>
            <a:r>
              <a:rPr lang="en-US" altLang="zh-CN" sz="1600" dirty="0">
                <a:solidFill>
                  <a:schemeClr val="tx1"/>
                </a:solidFill>
              </a:rPr>
              <a:t>·</a:t>
            </a:r>
            <a:r>
              <a:rPr lang="zh-CN" altLang="en-US" sz="1600" dirty="0">
                <a:solidFill>
                  <a:schemeClr val="tx1"/>
                </a:solidFill>
              </a:rPr>
              <a:t>队长说什么都对队</a:t>
            </a:r>
          </a:p>
        </p:txBody>
      </p:sp>
      <p:pic>
        <p:nvPicPr>
          <p:cNvPr id="28" name="图片 27" descr="ae5d5564380e8049ca186a9801eb1f0">
            <a:extLst>
              <a:ext uri="{FF2B5EF4-FFF2-40B4-BE49-F238E27FC236}">
                <a16:creationId xmlns:a16="http://schemas.microsoft.com/office/drawing/2014/main" id="{DE9B3AE7-09EF-D11C-8937-4010DBFB86A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rcRect l="3658" t="22262" b="24253"/>
          <a:stretch>
            <a:fillRect/>
          </a:stretch>
        </p:blipFill>
        <p:spPr>
          <a:xfrm>
            <a:off x="9219565" y="0"/>
            <a:ext cx="2972435" cy="7505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当前项目完成度与核心成果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318000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F97316">
                  <a:alpha val="100000"/>
                </a:srgbClr>
              </a:gs>
              <a:gs pos="100000">
                <a:srgbClr val="FDBA74">
                  <a:alpha val="100000"/>
                </a:srgbClr>
              </a:gs>
            </a:gsLst>
            <a:lin ang="3600000"/>
          </a:gradFill>
          <a:ln w="25400" cap="flat" cmpd="sng">
            <a:noFill/>
            <a:prstDash val="solid"/>
            <a:round/>
          </a:ln>
          <a:effectLst>
            <a:outerShdw blurRad="304800" dist="152400" dir="2700000" algn="tl" rotWithShape="0">
              <a:srgbClr val="F97316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0500" y="2286000"/>
            <a:ext cx="1905000" cy="190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4445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 100% 交付</a:t>
            </a:r>
            <a:endParaRPr lang="en-US" sz="1100"/>
          </a:p>
          <a:p>
            <a:pPr indent="0" algn="ctr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已达成比赛展示标准</a:t>
            </a:r>
          </a:p>
        </p:txBody>
      </p:sp>
      <p:sp>
        <p:nvSpPr>
          <p:cNvPr id="6" name="AutoShape 6"/>
          <p:cNvSpPr/>
          <p:nvPr/>
        </p:nvSpPr>
        <p:spPr>
          <a:xfrm>
            <a:off x="4445000" y="1651000"/>
            <a:ext cx="698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核心功能交付清单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2286000"/>
            <a:ext cx="3302000" cy="609600"/>
          </a:xfrm>
          <a:prstGeom prst="roundRect">
            <a:avLst>
              <a:gd name="adj" fmla="val 20833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413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080000" y="2286000"/>
            <a:ext cx="254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核心业务闭环全流程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997200"/>
            <a:ext cx="3302000" cy="609600"/>
          </a:xfrm>
          <a:prstGeom prst="roundRect">
            <a:avLst>
              <a:gd name="adj" fmla="val 20833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31242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2997200"/>
            <a:ext cx="254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云开发全栈服务接入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3708400"/>
            <a:ext cx="3302000" cy="609600"/>
          </a:xfrm>
          <a:prstGeom prst="roundRect">
            <a:avLst>
              <a:gd name="adj" fmla="val 20833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38354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80000" y="3708400"/>
            <a:ext cx="254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图片上传与安全展示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445000" y="4419600"/>
            <a:ext cx="3302000" cy="609600"/>
          </a:xfrm>
          <a:prstGeom prst="roundRect">
            <a:avLst>
              <a:gd name="adj" fmla="val 20833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45466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080000" y="4419600"/>
            <a:ext cx="254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用户资料自动保存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874000" y="2286000"/>
            <a:ext cx="3302000" cy="609600"/>
          </a:xfrm>
          <a:prstGeom prst="roundRect">
            <a:avLst>
              <a:gd name="adj" fmla="val 20833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500" y="2413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509000" y="2286000"/>
            <a:ext cx="254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“我的发布”内容管理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874000" y="2997200"/>
            <a:ext cx="3302000" cy="609600"/>
          </a:xfrm>
          <a:prstGeom prst="roundRect">
            <a:avLst>
              <a:gd name="adj" fmla="val 20833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500" y="31242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509000" y="2997200"/>
            <a:ext cx="254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自动审核与管理员中心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874000" y="3708400"/>
            <a:ext cx="3302000" cy="609600"/>
          </a:xfrm>
          <a:prstGeom prst="roundRect">
            <a:avLst>
              <a:gd name="adj" fmla="val 20833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500" y="38354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509000" y="3708400"/>
            <a:ext cx="254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云端删除联动机制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207000" y="5334000"/>
            <a:ext cx="584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项目状态：已具备“可演示、可讲解、可答辩”的完整比赛展示条件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图片 31" descr="ae5d5564380e8049ca186a9801eb1f0">
            <a:extLst>
              <a:ext uri="{FF2B5EF4-FFF2-40B4-BE49-F238E27FC236}">
                <a16:creationId xmlns:a16="http://schemas.microsoft.com/office/drawing/2014/main" id="{489DB9AA-E309-95D6-31CD-52257575233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 l="3658" t="22262" b="24253"/>
          <a:stretch>
            <a:fillRect/>
          </a:stretch>
        </p:blipFill>
        <p:spPr>
          <a:xfrm>
            <a:off x="9219565" y="0"/>
            <a:ext cx="2972435" cy="75057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A4861CEC-D8EE-D082-E6E3-A6E75A8D3A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1474"/>
            <a:ext cx="878702" cy="878702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7FAF4989-5234-5E92-6CEE-A1831367AC33}"/>
              </a:ext>
            </a:extLst>
          </p:cNvPr>
          <p:cNvSpPr txBox="1"/>
          <p:nvPr/>
        </p:nvSpPr>
        <p:spPr>
          <a:xfrm>
            <a:off x="770708" y="241469"/>
            <a:ext cx="3554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拾光循迹</a:t>
            </a:r>
            <a:r>
              <a:rPr lang="en-US" altLang="zh-CN" sz="1600" dirty="0">
                <a:solidFill>
                  <a:schemeClr val="tx1"/>
                </a:solidFill>
              </a:rPr>
              <a:t>·</a:t>
            </a:r>
            <a:r>
              <a:rPr lang="zh-CN" altLang="en-US" sz="1600" dirty="0">
                <a:solidFill>
                  <a:schemeClr val="tx1"/>
                </a:solidFill>
              </a:rPr>
              <a:t>队长说什么都对队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不足与后续优化方向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762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cap="flat" cmpd="sng">
            <a:solidFill>
              <a:srgbClr val="E05C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2540000" cy="3556000"/>
          </a:xfrm>
          <a:prstGeom prst="roundRect">
            <a:avLst>
              <a:gd name="adj" fmla="val 5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F9731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460500" y="2286000"/>
            <a:ext cx="1143000" cy="1143000"/>
          </a:xfrm>
          <a:prstGeom prst="ellipse">
            <a:avLst/>
          </a:prstGeom>
          <a:solidFill>
            <a:srgbClr val="F97316">
              <a:alpha val="100000"/>
            </a:srgbClr>
          </a:solidFill>
          <a:ln cap="flat" cmpd="sng">
            <a:solidFill>
              <a:srgbClr val="E05C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4500" y="25400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审核机制智能化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1275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接入更完善的内容安全API，提升自动审核效率与准确性。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905000"/>
            <a:ext cx="2540000" cy="3556000"/>
          </a:xfrm>
          <a:prstGeom prst="roundRect">
            <a:avLst>
              <a:gd name="adj" fmla="val 5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F9731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191000" y="2286000"/>
            <a:ext cx="1143000" cy="1143000"/>
          </a:xfrm>
          <a:prstGeom prst="ellipse">
            <a:avLst/>
          </a:prstGeom>
          <a:solidFill>
            <a:srgbClr val="F97316">
              <a:alpha val="100000"/>
            </a:srgbClr>
          </a:solidFill>
          <a:ln cap="flat" cmpd="sng">
            <a:solidFill>
              <a:srgbClr val="E05C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5000" y="2540000"/>
            <a:ext cx="635000" cy="635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6195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用户画像丰富化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41275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补充手机号、学院信息等关键字段，构建精准用户画像体系。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905000"/>
            <a:ext cx="2540000" cy="3556000"/>
          </a:xfrm>
          <a:prstGeom prst="roundRect">
            <a:avLst>
              <a:gd name="adj" fmla="val 5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F9731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921500" y="2286000"/>
            <a:ext cx="1143000" cy="1143000"/>
          </a:xfrm>
          <a:prstGeom prst="ellipse">
            <a:avLst/>
          </a:prstGeom>
          <a:solidFill>
            <a:srgbClr val="F97316">
              <a:alpha val="100000"/>
            </a:srgbClr>
          </a:solidFill>
          <a:ln cap="flat" cmpd="sng">
            <a:solidFill>
              <a:srgbClr val="E05C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5500" y="2540000"/>
            <a:ext cx="635000" cy="635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3500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搜索筛选高效化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41275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针对数据量增长，将前端筛选优化为服务端查询，提升响应速度。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53500" y="1905000"/>
            <a:ext cx="2540000" cy="3556000"/>
          </a:xfrm>
          <a:prstGeom prst="roundRect">
            <a:avLst>
              <a:gd name="adj" fmla="val 5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F9731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652000" y="2286000"/>
            <a:ext cx="1143000" cy="1143000"/>
          </a:xfrm>
          <a:prstGeom prst="ellipse">
            <a:avLst/>
          </a:prstGeom>
          <a:solidFill>
            <a:srgbClr val="F97316">
              <a:alpha val="100000"/>
            </a:srgbClr>
          </a:solidFill>
          <a:ln cap="flat" cmpd="sng">
            <a:solidFill>
              <a:srgbClr val="E05C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06000" y="2540000"/>
            <a:ext cx="635000" cy="635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0805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管理配置便捷化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44000" y="41275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开发可视化后台管理界面，彻底替代手动维护数据库的低效方式。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715000"/>
            <a:ext cx="10731500" cy="635000"/>
          </a:xfrm>
          <a:prstGeom prst="roundRect">
            <a:avLst>
              <a:gd name="adj" fmla="val 40000"/>
            </a:avLst>
          </a:prstGeom>
          <a:solidFill>
            <a:srgbClr val="F97316">
              <a:alpha val="8000"/>
            </a:srgbClr>
          </a:solidFill>
          <a:ln w="12700" cap="flat" cmpd="sng">
            <a:solidFill>
              <a:srgbClr val="F9731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62000" y="5816600"/>
            <a:ext cx="10731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持续迭代 · 体验升级 · 效率优化 —— 打造更优质的平台体验</a:t>
            </a:r>
            <a:endParaRPr lang="en-US" sz="1100"/>
          </a:p>
        </p:txBody>
      </p:sp>
      <p:pic>
        <p:nvPicPr>
          <p:cNvPr id="26" name="图片 25" descr="ae5d5564380e8049ca186a9801eb1f0">
            <a:extLst>
              <a:ext uri="{FF2B5EF4-FFF2-40B4-BE49-F238E27FC236}">
                <a16:creationId xmlns:a16="http://schemas.microsoft.com/office/drawing/2014/main" id="{3547D06C-83BA-DCEA-25FF-ED0A01A5926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rcRect l="3658" t="22262" b="24253"/>
          <a:stretch>
            <a:fillRect/>
          </a:stretch>
        </p:blipFill>
        <p:spPr>
          <a:xfrm>
            <a:off x="9219565" y="0"/>
            <a:ext cx="2972435" cy="75057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4583F9B-9E92-6B72-6F42-61F05E72B2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1474"/>
            <a:ext cx="878702" cy="878702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EFB29D34-2CB1-F484-3595-3BCE837392A4}"/>
              </a:ext>
            </a:extLst>
          </p:cNvPr>
          <p:cNvSpPr txBox="1"/>
          <p:nvPr/>
        </p:nvSpPr>
        <p:spPr>
          <a:xfrm>
            <a:off x="770708" y="241469"/>
            <a:ext cx="3554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拾光循迹</a:t>
            </a:r>
            <a:r>
              <a:rPr lang="en-US" altLang="zh-CN" sz="1600" dirty="0">
                <a:solidFill>
                  <a:schemeClr val="tx1"/>
                </a:solidFill>
              </a:rPr>
              <a:t>·</a:t>
            </a:r>
            <a:r>
              <a:rPr lang="zh-CN" altLang="en-US" sz="1600" dirty="0">
                <a:solidFill>
                  <a:schemeClr val="tx1"/>
                </a:solidFill>
              </a:rPr>
              <a:t>队长说什么都对队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项目价值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| </a:t>
            </a:r>
            <a:r>
              <a:rPr lang="zh-CN" alt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拾光循迹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6EE7B7">
              <a:alpha val="100000"/>
            </a:srgbClr>
          </a:solidFill>
          <a:ln cap="flat" cmpd="sng">
            <a:solidFill>
              <a:srgbClr val="4DCE9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2540000" cy="4064000"/>
          </a:xfrm>
          <a:prstGeom prst="roundRect">
            <a:avLst>
              <a:gd name="adj" fmla="val 5000"/>
            </a:avLst>
          </a:prstGeom>
          <a:solidFill>
            <a:srgbClr val="6EE7B7">
              <a:alpha val="12000"/>
            </a:srgbClr>
          </a:solidFill>
          <a:ln w="12700" cap="flat" cmpd="sng">
            <a:solidFill>
              <a:srgbClr val="6EE7B7">
                <a:alpha val="3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6EE7B7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460500" y="2286000"/>
            <a:ext cx="1143000" cy="1143000"/>
          </a:xfrm>
          <a:prstGeom prst="ellipse">
            <a:avLst/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6EE7B7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4500" y="25400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解决实际痛点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1275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有效整合分散信息，解决查找困难与管理缺失问题，提升失物找回效率。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67100" y="1905000"/>
            <a:ext cx="2540000" cy="4064000"/>
          </a:xfrm>
          <a:prstGeom prst="roundRect">
            <a:avLst>
              <a:gd name="adj" fmla="val 5000"/>
            </a:avLst>
          </a:prstGeom>
          <a:solidFill>
            <a:srgbClr val="6EE7B7">
              <a:alpha val="12000"/>
            </a:srgbClr>
          </a:solidFill>
          <a:ln w="12700" cap="flat" cmpd="sng">
            <a:solidFill>
              <a:srgbClr val="6EE7B7">
                <a:alpha val="3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6EE7B7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165600" y="2286000"/>
            <a:ext cx="1143000" cy="1143000"/>
          </a:xfrm>
          <a:prstGeom prst="ellipse">
            <a:avLst/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6EE7B7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9600" y="2540000"/>
            <a:ext cx="635000" cy="635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5941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技术方案可行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57600" y="41275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基于微信云开发，部署门槛低且扩展性强，兼顾比赛演示效果与实际落地可能。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1905000"/>
            <a:ext cx="2540000" cy="4064000"/>
          </a:xfrm>
          <a:prstGeom prst="roundRect">
            <a:avLst>
              <a:gd name="adj" fmla="val 5000"/>
            </a:avLst>
          </a:prstGeom>
          <a:solidFill>
            <a:srgbClr val="6EE7B7">
              <a:alpha val="12000"/>
            </a:srgbClr>
          </a:solidFill>
          <a:ln w="12700" cap="flat" cmpd="sng">
            <a:solidFill>
              <a:srgbClr val="6EE7B7">
                <a:alpha val="3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6EE7B7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870700" y="2286000"/>
            <a:ext cx="1143000" cy="1143000"/>
          </a:xfrm>
          <a:prstGeom prst="ellipse">
            <a:avLst/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6EE7B7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24700" y="2540000"/>
            <a:ext cx="635000" cy="635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2992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创新思路体现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62700" y="41275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采用“工具+平台治理”微创新模式，注重平台生态的健康发展与可持续运营。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77300" y="1905000"/>
            <a:ext cx="2540000" cy="4064000"/>
          </a:xfrm>
          <a:prstGeom prst="roundRect">
            <a:avLst>
              <a:gd name="adj" fmla="val 5000"/>
            </a:avLst>
          </a:prstGeom>
          <a:solidFill>
            <a:srgbClr val="6EE7B7">
              <a:alpha val="12000"/>
            </a:srgbClr>
          </a:solidFill>
          <a:ln w="12700" cap="flat" cmpd="sng">
            <a:solidFill>
              <a:srgbClr val="6EE7B7">
                <a:alpha val="3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6EE7B7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575800" y="2286000"/>
            <a:ext cx="1143000" cy="1143000"/>
          </a:xfrm>
          <a:prstGeom prst="ellipse">
            <a:avLst/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6EE7B7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29800" y="2540000"/>
            <a:ext cx="635000" cy="635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0043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社会价值显著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067800" y="41275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弘扬校园互助精神，营造和谐友善的校园文化，兼具极高的应用价值与展示价值。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图片 24" descr="ae5d5564380e8049ca186a9801eb1f0">
            <a:extLst>
              <a:ext uri="{FF2B5EF4-FFF2-40B4-BE49-F238E27FC236}">
                <a16:creationId xmlns:a16="http://schemas.microsoft.com/office/drawing/2014/main" id="{2595AA0B-4965-DEE8-3A27-302D6BA8E0C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rcRect l="3658" t="22262" b="24253"/>
          <a:stretch>
            <a:fillRect/>
          </a:stretch>
        </p:blipFill>
        <p:spPr>
          <a:xfrm>
            <a:off x="9219565" y="0"/>
            <a:ext cx="2972435" cy="75057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D91C327C-439D-4E1D-56A6-1C88B349B3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1474"/>
            <a:ext cx="878702" cy="878702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22B7E671-2D71-F2BD-BA5B-2EF43C774EB0}"/>
              </a:ext>
            </a:extLst>
          </p:cNvPr>
          <p:cNvSpPr txBox="1"/>
          <p:nvPr/>
        </p:nvSpPr>
        <p:spPr>
          <a:xfrm>
            <a:off x="770708" y="241469"/>
            <a:ext cx="3554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拾光循迹</a:t>
            </a:r>
            <a:r>
              <a:rPr lang="en-US" altLang="zh-CN" sz="1600" dirty="0">
                <a:solidFill>
                  <a:schemeClr val="tx1"/>
                </a:solidFill>
              </a:rPr>
              <a:t>·</a:t>
            </a:r>
            <a:r>
              <a:rPr lang="zh-CN" altLang="en-US" sz="1600" dirty="0">
                <a:solidFill>
                  <a:schemeClr val="tx1"/>
                </a:solidFill>
              </a:rPr>
              <a:t>队长说什么都对队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DB1CD-9B89-FEDE-5148-28B667F78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3D3DB538-FF03-A7F5-8295-0D1B0DE8A971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图片 18" descr="ae5d5564380e8049ca186a9801eb1f0">
            <a:extLst>
              <a:ext uri="{FF2B5EF4-FFF2-40B4-BE49-F238E27FC236}">
                <a16:creationId xmlns:a16="http://schemas.microsoft.com/office/drawing/2014/main" id="{0A0B308B-A2BF-336D-DCE7-C926F9E9EB9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3658" t="22262" b="24253"/>
          <a:stretch>
            <a:fillRect/>
          </a:stretch>
        </p:blipFill>
        <p:spPr>
          <a:xfrm>
            <a:off x="9219565" y="0"/>
            <a:ext cx="2972435" cy="75057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6A6AA94-769D-CEB6-FF7B-B97D6F21F8AD}"/>
              </a:ext>
            </a:extLst>
          </p:cNvPr>
          <p:cNvSpPr txBox="1"/>
          <p:nvPr/>
        </p:nvSpPr>
        <p:spPr>
          <a:xfrm>
            <a:off x="3048000" y="738503"/>
            <a:ext cx="609600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拾光循迹，感谢有你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FCA48F7-3F0F-12F4-42A1-22CBCA1FA732}"/>
              </a:ext>
            </a:extLst>
          </p:cNvPr>
          <p:cNvSpPr txBox="1"/>
          <p:nvPr/>
        </p:nvSpPr>
        <p:spPr>
          <a:xfrm>
            <a:off x="3048000" y="1471432"/>
            <a:ext cx="6096000" cy="336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b="1" spc="400" dirty="0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 </a:t>
            </a:r>
            <a:r>
              <a:rPr lang="zh-CN" altLang="en-US" b="1" spc="400" dirty="0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交流环节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E042D21-E585-7350-BD3D-3AEFFF711E91}"/>
              </a:ext>
            </a:extLst>
          </p:cNvPr>
          <p:cNvSpPr txBox="1"/>
          <p:nvPr/>
        </p:nvSpPr>
        <p:spPr>
          <a:xfrm>
            <a:off x="2971031" y="5009328"/>
            <a:ext cx="6096000" cy="336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扫码体验拾光循迹小程序 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开启智能寻物之旅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1BDAD15-0C65-F3E1-88E5-6CCAEDC8D2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1474"/>
            <a:ext cx="878702" cy="87870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0154127-23A3-6F7B-1202-09D8B1DA7D8A}"/>
              </a:ext>
            </a:extLst>
          </p:cNvPr>
          <p:cNvSpPr txBox="1"/>
          <p:nvPr/>
        </p:nvSpPr>
        <p:spPr>
          <a:xfrm>
            <a:off x="770708" y="241469"/>
            <a:ext cx="3554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拾光循迹</a:t>
            </a:r>
            <a:r>
              <a:rPr lang="en-US" altLang="zh-CN" sz="1600" dirty="0">
                <a:solidFill>
                  <a:schemeClr val="tx1"/>
                </a:solidFill>
              </a:rPr>
              <a:t>·</a:t>
            </a:r>
            <a:r>
              <a:rPr lang="zh-CN" altLang="en-US" sz="1600" dirty="0">
                <a:solidFill>
                  <a:schemeClr val="tx1"/>
                </a:solidFill>
              </a:rPr>
              <a:t>队长说什么都对队</a:t>
            </a:r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CB86F247-75F7-4C36-6B1C-B7733A28411C}"/>
              </a:ext>
            </a:extLst>
          </p:cNvPr>
          <p:cNvSpPr/>
          <p:nvPr/>
        </p:nvSpPr>
        <p:spPr>
          <a:xfrm>
            <a:off x="4405030" y="1979363"/>
            <a:ext cx="3228002" cy="2858791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25400" cap="flat" cmpd="sng">
            <a:solidFill>
              <a:srgbClr val="14B8A6">
                <a:alpha val="100000"/>
              </a:srgbClr>
            </a:solidFill>
            <a:prstDash val="solid"/>
            <a:round/>
          </a:ln>
          <a:effectLst>
            <a:outerShdw blurRad="254000" dir="2700000" algn="tl" rotWithShape="0">
              <a:srgbClr val="14B8A6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22E022F-18C9-6A20-8E19-4CBCA96007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0327" y="2110055"/>
            <a:ext cx="2597408" cy="259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4221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18,&quot;width&quot;:405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18,&quot;width&quot;:405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18,&quot;width&quot;:405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18,&quot;width&quot;:405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18,&quot;width&quot;:405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18,&quot;width&quot;:405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18,&quot;width&quot;:405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18,&quot;width&quot;:405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18,&quot;width&quot;:405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18,&quot;width&quot;:405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18,&quot;width&quot;:405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18,&quot;width&quot;:405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18,&quot;width&quot;:405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18,&quot;width&quot;:405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18,&quot;width&quot;:4058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864</Words>
  <Application>Microsoft Office PowerPoint</Application>
  <PresentationFormat>宽屏</PresentationFormat>
  <Paragraphs>202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Noto Sans SC</vt:lpstr>
      <vt:lpstr>宋体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王雨昕</dc:creator>
  <cp:lastModifiedBy>ze ze</cp:lastModifiedBy>
  <cp:revision>15</cp:revision>
  <dcterms:modified xsi:type="dcterms:W3CDTF">2026-04-23T12:01:06Z</dcterms:modified>
</cp:coreProperties>
</file>